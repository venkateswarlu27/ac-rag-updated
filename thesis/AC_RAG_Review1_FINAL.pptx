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24"/>
    <p:sldId id="271" r:id="rId17"/>
    <p:sldId id="272" r:id="rId18"/>
    <p:sldId id="274" r:id="rId25"/>
    <p:sldId id="275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IV/IV B. TECH (IT) 2ⁿᵈ SEMESTER PROJECT WORK (B20IT4201)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1st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TITLE: Agent-Controlled Retrieval Augmented Generation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                         for Reliable Document Question Answering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76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No: 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&amp; Reg No: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Thanneeru Venkateswarlu – 22B91A54E8     2. Amirisetti Mahesh Gopi – 23B95A5402     3. Marre Hemanth Kumar – 23B95A5423     4. Gokina Charan – 23B95A5415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34564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730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 :  Dr. P. Syamala Rao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" y="39684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Designation  :  Associate Professor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" y="42245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IT, SRKR Engineering College, Bhimavaram, AP, India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IV/IV B. TECH (IT) 2ⁿᵈ SEMESTER PROJECT WORK (B20IT4201)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1st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63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Abstract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Literature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Existing System Advantages &amp; Disadvantages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Proposed System Advantages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Technology Using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64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Methodology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 Dataset &amp; Experimental Setup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  Algorithms / Methods Implemented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 Results &amp; Ablation Study</a:t>
            </a:r>
            <a:endParaRPr lang="en-US" sz="1600" dirty="0"/>
          </a:p>
        </p:txBody>
      </p:sp>
      <p:sp>
        <p:nvSpPr>
          <p:cNvPr id="4655096" name="Text 4654296"/>
          <p:cNvSpPr/>
          <p:nvPr/>
        </p:nvSpPr>
        <p:spPr>
          <a:xfrm>
            <a:off x="457200" y="4654296"/>
            <a:ext cx="8229600" cy="2746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lang="en-US" sz="1600" dirty="0">
                <a:solidFill>
                  <a:srgbClr val="000000"/>
                </a:solidFill>
                <a:latin typeface="Calibri"/>
              </a:rPr>
              <a:t>10.  Conclusion</a:t>
            </a:r>
          </a:p>
        </p:txBody>
      </p:sp>
      <p:sp>
        <p:nvSpPr>
          <p:cNvPr id="4938560" name="Text 4937760"/>
          <p:cNvSpPr/>
          <p:nvPr/>
        </p:nvSpPr>
        <p:spPr>
          <a:xfrm>
            <a:off x="457200" y="4937760"/>
            <a:ext cx="8229600" cy="2746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lang="en-US" sz="1600" dirty="0">
                <a:solidFill>
                  <a:srgbClr val="000000"/>
                </a:solidFill>
                <a:latin typeface="Calibri"/>
              </a:rPr>
              <a:t>11. 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rapid growth of digital documents — research papers, legal contracts, corporate reports, and clinical records — has created a need for systems that can accurately answer questions from these documents.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138074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Language Models (LLMs) like GPT-4o and Gemini have transformed natural language understanding, but they are prone to hallucination — generating confident answers that are not supported by any source.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1892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Retrieval-Augmented Generation (RAG) was introduced to address this by grounding LLM responses in externally retrieved documents. However, standard RAG systems: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2404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◦  Retrieve a fixed number of chunks for every query regardless of complexity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7157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◦  Apply no check on whether retrieved chunks are actually relevant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026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◦  Generate one answer with no verification or retry mechanism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◦  Attempt to answer out-of-scope queries instead of declining honestly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64845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project introduces AC-RAG (Adaptive Context Retrieval-Augmented Generation) — a multi-agent pipeline that addresses all four limitations through intelligent query routing, adaptive retrieval, evidence validation, and self-reflection.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AC-RAG (Adaptive Context Retrieval-Augmented Generation) is a full-stack multi-agent question answering system designed for reliable document-based QA. The pipeline comprises nine specialised processing nodes orchestrated using a LangGraph StateGraph: an Entry Router (vector similarity-based query gating), a Direct Responder (out-of-scope fallback), a Query Analyzer (intent classification, complexity scoring 0.0–1.0, and sub-query decomposition), a two-tier Retrieval Planner (rule-based k selection of 4–12 and LLM-based modality refinement), a Retriever (MMR search on FAISS), an Evidence Validator (cosine similarity filtering at threshold 0.30), a Context Refiner (semantic deduplication at 0.85 and LLM compression), an Answer Generator (citation-grounded generation via Pydantic structured output), and a Critic Agent (5-dimension self-reflection with content/format retry routing and MAX_RETRIES = 3).</a:t>
            </a:r>
            <a:endParaRPr lang="en-US" sz="1450" dirty="0"/>
          </a:p>
          <a:p>
            <a:pPr algn="just" indent="0" marL="0">
              <a:buNone/>
            </a:pPr>
            <a:endParaRPr lang="en-US" sz="1450" dirty="0"/>
          </a:p>
          <a:p>
            <a:pPr algn="just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formally optimises: a* = argmax P(a | q, R(q, D)) subject to Faith(a, R(q, D)) ≥ 0.80. Documents are ingested from PDF, DOCX, TXT, HTML, and Markdown formats, chunked at 512 tokens with 64-token overlap, and embedded using sentence-transformers/all-MiniLM-L6-v2. A 7-configuration ablation study over 50 queries confirms that the full AC-RAG system achieves a faithfulness score of 0.88 and hallucination reduction of 0.85, representing significant improvement over a standard RAG baseline evaluated using the RAGAS framework.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Review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58368"/>
          <a:ext cx="8869680" cy="4297680"/>
        </p:xfrm>
        <a:graphic>
          <a:graphicData uri="http://schemas.openxmlformats.org/drawingml/2006/table">
            <a:tbl>
              <a:tblPr/>
              <a:tblGrid>
                <a:gridCol w="384048"/>
                <a:gridCol w="1737360"/>
                <a:gridCol w="868680"/>
                <a:gridCol w="960120"/>
                <a:gridCol w="1691640"/>
                <a:gridCol w="1691640"/>
                <a:gridCol w="153619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the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Name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 for Knowledge-Intensive NLP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non-parametric dense retriever with parametric seq2seq generator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substantially reduces hallucination on knowledge-intensive NLP benchmarks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retrieval; no answer validation after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Passage Retrieval for Open-Domain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Karpukhin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EMNLP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Bi-encoder architecture mapping queries and passages into shared dense embedding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improved recall over sparse BM25 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generation grounding; no multi-hop reasoning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ReAct: Synergizing Reasoning and Acting in Language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Yao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Interleaved reasoning traces with tool-use actions for dynamic information gathering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can reason and act together for better task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designed for document QA; no structured retrieval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Reflexion: Language Agents with Verbal Reinforcement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Shinn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Self-generated verbal feedback used to improve agent performance across episodes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improves task performance through iterative self-critique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Prompt-based; no structured retrieval control; no evidence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Retrieval-Augmented Generation Systems for Adaptive Information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decision making for adaptive information retrieval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approach improves retrieval precision over static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IR-focused; not extended to generative QA; no faithfulness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RAG: Redefining Retrieval-Augmented Generation for Adaptive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IRJET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RAG architecture for adaptive question answering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Demonstrates potential of agentic approach for document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quantitative faithfulness evaluation; lacks structured retry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Existing System Advantages &amp; Disadvantages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System: Standard RAG (Retrieval-Augmented Generation)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Grounds LLM responses in retrieved documents, reducing hallucinations compared to pure LLM generation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than our system — single-pass pipeline with one LLM call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to implement — no complex agent orchestration required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reasonably well for straightforward factual queries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Lower cost per query — fewer LLM API calls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retrieval: same fixed k chunks for every query regardless of complexity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evidence filtering — irrelevant retrieved chunks reach the generator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post-generation verification — one-shot answer with no quality check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scope gating — out-of-scope queries receive hallucinated answers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Monomodal retrieval — ignores tables and figures in documents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1170432"/>
            <a:ext cx="0" cy="35661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Existing document QA systems rely on static retrieval mechanisms and lack explicit answer validation, resulting in hallucinated or unsupported responses.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Specifically, four critical problems exist with standard RAG pipelines: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92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 ◦  Static Retrieval: The same k document chunks are retrieved for every query regardless of complexity. Simple factual queries receive too many chunks; complex multi-hop queries receive too few.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4414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 ◦  Absent Evidence Validation: Retrieved chunks are passed directly to the generator with no check on their relevance. Irrelevant chunks pollute the context and degrade answer quality.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900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 ◦  No Answer Verification: The system generates one answer and terminates. There is no mechanism to detect, classify, or correct hallucinated or incomplete answers.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538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 ◦  No Query Scope Gating: All queries — including those completely unrelated to the indexed documents — receive an attempted answer rather than an honest declination.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0873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Therefore, there is a need for a system that: (a) gates queries by document relevance, (b) adapts retrieval depth to query complexity, (c) validates and refines retrieved evidence, and (d) iteratively self-reflects on generated answers through a structured feedback loop.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Proposed System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 Intelligent Query Routing: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26080" y="8412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Router performs vector similarity check — out-of-scope queries receive honest 'I don't know' response instead of a hallucinated answer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 Adaptive Retrieval Depth: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33502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Planner maps query complexity (0.0–1.0) to k (4–12) — simple queries get focused context, complex multi-hop queries get broader coverage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 Modality-Aware Retrieval: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Planner selects between text, table, and figure modalities — numerical queries retrieve table chunks instead of prose descriptions of tables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 Evidence Quality Filtering: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3225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Validator discards chunks with cosine similarity &lt; 0.30 — only relevant, high-quality passages reach the generator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5.  Context Organisation: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8163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Refiner re-ranks, deduplicates, and compresses — most relevant passages first, no redundant content, fits within LLM context window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6.  Self-Reflection with Retry: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3101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 scores answers on 5 dimensions; content failures trigger full re-retrieval, format failures trigger answer rewrite — max 3 retries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7.  Full Provenance &amp; Traceability: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039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inline [N] citations and [SOURCE N | file | page] attribution tags — users can verify exactly which document each claim comes from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8.  Provider-Agnostic Design: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4297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OpenAI GPT-4o, Gemini, Claude, Groq by changing one line in config/settings.py — no pipeline code changes needed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Technology Using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816352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Orchestration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3.11 — primary programming language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929384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LLM abstraction, document loaders, text splitters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2624328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— multi-agent StateGraph orchestration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331927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— REST API with SSE streaming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4014216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Pydantic v2 — structured output schemas for all agents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816352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8046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&amp; Embeddings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2344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FAISS (faiss-cpu) — vector similarity search index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64408" y="1929384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sentence-transformers/all-MiniLM-L6-v2 — local embedding 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2624328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ChromaDB — alternative vector backend (supported)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64408" y="331927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PyMuPDF — PDF loading with page-level metadata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4014216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Docx2txt, Unstructured — DOCX, HTML, Markdown loading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3056" y="804672"/>
            <a:ext cx="2816352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8046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&amp; Frontend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08776" y="12344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 GPT-4o — default LLM provider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08776" y="1929384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Gemini 2.0 Flash — alternative provider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08776" y="2624328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Anthropic Claude Sonnet — alternative provider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08776" y="331927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Groq LLaMA 3.3 70B — free-tier alternative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08776" y="4014216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(Vite) + SSE — frontend with real-time pipeline trace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AC-RAG is implemented as a LangGraph StateGraph in which each agent is a node and conditional edges encode all routing and retry logic. A shared ACRagState TypedDict carries the full pipeline state through every node. The methodology follows six phases: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Document Ingestion &amp; Index Construction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documents (PDF/DOCX/TXT/HTML/MD) → chunk at 512 tokens with 64-token overlap → tag modality metadata (text/table/figure) → embed with all-MiniLM-L6-v2 → build and persist FAISS index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Pydantic Schema Definition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type-safe schemas for all agent contracts: QueryAnalysis, RetrievalPlan, GeneratedAnswer, CriticEvaluation — bind all LLM calls using .with_structured_output()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Node Implementation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each of 9 processing nodes as Python functions; each appends structured trace entry to state['stage_logs'] for full pipeline observability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LangGraph StateGraph Assembly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nodes, set entry_router as entry point, add conditional edges for routing decisions, compile graph with recursion_limit=50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FastAPI Integration &amp; SSE Streaming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compiled pipeline via REST API; stream per-node state updates as SSE events to React frontend in real 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Evaluation &amp; Ablation Study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50-query test set across 7 pipeline configurations (ablation flags in settings.py); compute faithfulness, answer relevance, completeness, context utilisation, ROUGE-L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Architecture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49808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Dataset &amp; 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Corpus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8595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academic PDF documents from the fields of Artificial Intelligence and Natural Language Processing. Documents contain mixed content including running text, tabular data, and embedded figures.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57276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chunked into blocks of approximately 600 characters with 100 characters overlap. Three separate ChromaDB vector collections maintained: Text, Tables, and Figures — enabling modality-specific retrieval.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9424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question-answer pairs constructed to cover three query types: (1) Factual — direct answer from a single passage; (2) Analytical — requires synthesising multiple sections; (3) Table/Figure — needs numerical or visual data extraction.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62656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Document Format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99923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 used for evaluation. The system supports PDF, DOCX, TXT, HTML, and Markdown in deployment. Figure content is converted to text descriptions by a vision model, making visual data searchable.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75888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71246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(OpenAI) — generates dense vector embeddings for all chunks. Same model used at ingestion and query time to ensure embedding space consistency.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2286000" cy="58521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8912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42569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three separate vector collections for Text, Tables, and Figures. This modality separation allows the Retrieval Planner to target only the relevant content type per query, reducing noise in retrieval.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Algorithms / Methods Implemented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MMR (Maximal Marginal Relevance)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698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Retriever node. Selects passages that are simultaneously relevant to query AND diverse relative to already-selected passages. Controlled by lambda_mult parameter (0.3–0.7). Prevents retrieving five copies of the same sentence.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Cosine Similarity Scoring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19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Evidence Validator and Entry Router. Embeds both query and passage using the same sentence-transformer model; computes dot product of L2-normalised vectors. Threshold 0.30 filters irrelevant passages.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Semantic Deduplication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94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Context Refiner. Computes pairwise cosine similarity matrix across all validated passages. Greedily removes passages with similarity &gt; 0.85 to any already-kept passage, eliminating near-duplicate content.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LLM-Based Complexity Scoring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192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Query Analyzer. LLM assigns continuous complexity score 0.0–1.0 using structured prompt. Score drives k selection (4–12), lambda_mult choice, and whether sub-query decomposition is triggered (threshold 0.6).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5-Dimension Critic Evaluation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Critic Agent. LLM scores answer on faithfulness, completeness, table accuracy, figure accuracy, and conciseness (all 1–5). Failure type (content vs format) determines retry destination: Query Analyzer or Generator.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Formal Optimisation Objective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18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 P(a | q, R(q, D))  subject to: Faith(a, R(q, D)) ≥ 0.80. Faithfulness computed as mean cosine similarity of answer sentence embeddings against retrieved passage embeddings.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Architecture — System Design &amp; Workflow Execution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49808"/>
            <a:ext cx="8778240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Evaluation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50 question-answer pairs from technical AI/NLP research PDFs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Mixed content: running text, tabular data, embedded figures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query types: Factual (single passage), Analytical (multi-section), Table/Figure (numerical/visual)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Evaluated using RAGAS framework — automated metrics for RAG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Baseline: Standard RAG, fixed k=5, no evidence validation, no self-reflection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29260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0467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Settings (Table 2)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15568"/>
          <a:ext cx="4160520" cy="3794760"/>
        </p:xfrm>
        <a:graphic>
          <a:graphicData uri="http://schemas.openxmlformats.org/drawingml/2006/table">
            <a:tbl>
              <a:tblPr/>
              <a:tblGrid>
                <a:gridCol w="2560320"/>
                <a:gridCol w="160020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overlap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range (k)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to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Self-reflection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out of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retrieval retries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reflection retries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Results — RAGAS Evaluation (Table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systems tested on same 50-question document QA dataset using same LLM backbone (GPT-4o). Evaluated using RAGAS framework.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1572768"/>
        </p:xfrm>
        <a:graphic>
          <a:graphicData uri="http://schemas.openxmlformats.org/drawingml/2006/table">
            <a:tbl>
              <a:tblPr/>
              <a:tblGrid>
                <a:gridCol w="2651760"/>
                <a:gridCol w="1440180"/>
                <a:gridCol w="1440180"/>
                <a:gridCol w="1440180"/>
                <a:gridCol w="14401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Faithfulness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(AF ↑)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 (HR ↑)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(CR ↑)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(RA ↑)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RAG [Lewis et al., 2020]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AC-RAG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880360"/>
            <a:ext cx="1993392" cy="1417320"/>
          </a:xfrm>
          <a:prstGeom prst="rect">
            <a:avLst/>
          </a:prstGeom>
          <a:solidFill>
            <a:srgbClr val="F0FFF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8986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34472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794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→ 0.88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87168" y="2880360"/>
            <a:ext cx="1993392" cy="1417320"/>
          </a:xfrm>
          <a:prstGeom prst="rect">
            <a:avLst/>
          </a:prstGeom>
          <a:solidFill>
            <a:srgbClr val="F0FFF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87168" y="28986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487168" y="34472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Reduction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87168" y="3794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→ 0.85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08576" y="2880360"/>
            <a:ext cx="1993392" cy="1417320"/>
          </a:xfrm>
          <a:prstGeom prst="rect">
            <a:avLst/>
          </a:prstGeom>
          <a:solidFill>
            <a:srgbClr val="F0FFF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8576" y="28986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08576" y="34472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08576" y="3794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→ 0.86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9984" y="2880360"/>
            <a:ext cx="1993392" cy="1417320"/>
          </a:xfrm>
          <a:prstGeom prst="rect">
            <a:avLst/>
          </a:prstGeom>
          <a:solidFill>
            <a:srgbClr val="F0FFF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9984" y="28986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729984" y="34472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Accuracy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9984" y="3794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 → 0.87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Hallucination Reduction improved most (+46%). Evidence validation + self-reflection directly reduce unsupported claims.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Ablation Study — Component Contribution (Table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removes one component at runtime. Full AC-RAG = upper bound. Red = largest individual drop.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794760"/>
        </p:xfrm>
        <a:graphic>
          <a:graphicData uri="http://schemas.openxmlformats.org/drawingml/2006/table">
            <a:tbl>
              <a:tblPr/>
              <a:tblGrid>
                <a:gridCol w="2926080"/>
                <a:gridCol w="1417320"/>
                <a:gridCol w="1417320"/>
                <a:gridCol w="1417320"/>
                <a:gridCol w="1417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(Faithfulness)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(Halluc. Red.)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(Ctx Relevance)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(Resp. Accuracy)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AC-RAG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Self-Reflection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Evidence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Adaptive Retrieval (fixed k=5)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Multi-Modal Retrieval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Context Refinement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Router (always RAG)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65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Removing Self-Reflection: AF 0.88 → 0.73 (−0.15) — single largest drop. Self-reflection is the most critical component.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Evaluation Metrics — What They Mean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the RAGAS framework — automated metrics designed specifically for RAG systems.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251960" cy="1828800"/>
          </a:xfrm>
          <a:prstGeom prst="rect">
            <a:avLst/>
          </a:prstGeom>
          <a:solidFill>
            <a:srgbClr val="E8F5EE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4251960" cy="548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Answer Faithfulness (AF)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Measures whether every claim in the generated answer is actually supported by the retrieved context.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011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answer has 5 claims and 4 are from the retrieved passages → Faithfulness = 0.80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faithfulness = low hallucination. Our system: 0.88 vs baseline 0.61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251960" cy="1828800"/>
          </a:xfrm>
          <a:prstGeom prst="rect">
            <a:avLst/>
          </a:prstGeom>
          <a:solidFill>
            <a:srgbClr val="FFF0F0"/>
          </a:solidFill>
          <a:ln w="15240">
            <a:solidFill>
              <a:srgbClr val="C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15568"/>
            <a:ext cx="42519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07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  Hallucination Reduction (HR)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18888" y="1554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Proportion of responses that contain NO unsupported or fabricated claims. Inverse of hallucination rate.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2011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15 out of 50 answers have hallucinated claims → HR = 1 − 0.30 = 0.70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for trustworthy QA. Our system: 0.85 vs baseline 0.58 (46% improvement)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81528"/>
            <a:ext cx="4251960" cy="1828800"/>
          </a:xfrm>
          <a:prstGeom prst="rect">
            <a:avLst/>
          </a:prstGeom>
          <a:solidFill>
            <a:srgbClr val="EFF6FF"/>
          </a:solidFill>
          <a:ln w="15240">
            <a:solidFill>
              <a:srgbClr val="1E40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81528"/>
            <a:ext cx="42519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729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Context Relevance (CR)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4048" y="3520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Measures how relevant the retrieved context passages are to the original query. Are we retrieving the right chunks?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3977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7 of 10 retrieved sentences actually relate to the question → CR = 0.70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517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CR = retrieval is focused. Our system: 0.86 vs baseline 0.64 (improved by adaptive k selection)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81528"/>
            <a:ext cx="4251960" cy="1828800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081528"/>
            <a:ext cx="4251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1729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Response Accuracy (RA)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18888" y="3520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Measures whether the generated answer actually addresses the question that was asked. Combines faithfulness + relevancy.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18888" y="3977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Answer gives correct info but misses part of the question → partial RA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4517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Overall answer quality. Our system: 0.87 vs baseline 0.63 (38% improvement)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AC-RAG is a multi-agent pipeline for document-based question answering that addresses two core limitations of standard RAG: fixed retrieval depth and absent answer verification. The system divides the pipeline into specialised stages — query understanding, retrieval planning, evidence validation, context refinement, answer generation, and self-reflection — each with a precise role and a defined quality criterion.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65760" y="166420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82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Multi-Agent Design: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68249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specialised nodes implemented using LangGraph StateGraph with conditional edges encoding all retry and routing logic. Each node accepts and returns a typed state update via a shared ACRagState TypedDict.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31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Adaptive Retrieval: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23113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depth k (4–12) and content modality (text, table, figure) are determined per query rather than fixed. This results in more focused context for simple queries and broader coverage for complex multi-hop questions.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79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Evidence Validation: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77977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below cosine similarity threshold 0.65 are discarded before generation. This prevents low-quality retrieved content from introducing noise into the answer generation stage.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28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Self-Reflection &amp; Retry: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32841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 scores each answer on 5 dimensions (faithfulness, completeness, table accuracy, figure accuracy, conciseness). Failures trigger targeted retry — full re-retrieval for content issues, answer rewrite for format issues — up to 3 times.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770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RAGAS Evaluation Results: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87705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AC-RAG achieved Answer Faithfulness 0.88, Hallucination Reduction 0.85, Context Relevance 0.86, and Response Accuracy 0.87, against baseline scores of 0.61, 0.58, 0.64, 0.63 respectively — all on the same document set and LLM backbone.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407408"/>
            <a:ext cx="54864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256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 Finding: 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42569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confirms Self-Reflection is the single most critical component (−0.15 faithfulness when removed). All improvements achieved without any model fine-tuning — the system works with existing LLM APIs.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directions are identified for extending the capabilities and applicability of AC-RAG: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1338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Larger-Scale Evaluation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71800" y="1152144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AC-RAG on standard NLP benchmarks and domain-specific datasets (legal, medical, financial) to evaluate performance generalisation beyond the current 50-query test 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801368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746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Thresholding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71800" y="1764792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adaptive adjustment of evidence validation thresholds and self-reflection thresholds based on query type and document domain rather than using fixed values across all query types.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" y="2414016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Optimisation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1800" y="2377440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 by parallelising independent pipeline stages using asyncio (e.g., multi-query MMR searches run concurrently) and exploring low-latency LLM alternatives such as Groq-hosted models.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" y="3026664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Document Format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71800" y="2990088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ingestion to support scanned documents (OCR), spreadsheets, and presentation slides, increasing the range of document types the system can process reliably.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" y="3639312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584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Critic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71800" y="3602736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LLM provider as the Critic Agent (e.g., Claude evaluating GPT-4o outputs) to eliminate self-evaluation bias and improve the objectivity of the quality assessment stage.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" y="4251960"/>
            <a:ext cx="310896" cy="31089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41970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Conversation Memory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971800" y="4215384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conversation history so that follow-up questions within a session can reference prior answers, enabling more natural multi-turn document analysis interactions.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2026-04-18T09:48:47Z</dcterms:created>
  <dcterms:modified xsi:type="dcterms:W3CDTF">2026-04-18T09:48:47Z</dcterms:modified>
</cp:coreProperties>
</file>